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4002B"/>
                </a:solidFill>
                <a:latin typeface="Calibri"/>
                <a:ea typeface="Calibri"/>
              </a:rPr>
              <a:t>KFC · DIRECCIÓN · LUCAS RODRIGUEZ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02920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4F5F7"/>
                </a:solidFill>
                <a:latin typeface="Calibri"/>
                <a:ea typeface="Calibri"/>
              </a:rPr>
              <a:t>Delivery La Plata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34440"/>
            <a:ext cx="5852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3C6CE"/>
                </a:solidFill>
                <a:latin typeface="Calibri"/>
                <a:ea typeface="Calibri"/>
              </a:rPr>
              <a:t>La app del local para dejar evidencia de cada pedido, leer el código solo y defender los reclamos de PedidosYa, Rappi, Rappi Turbo y Mercado Pago.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2377440"/>
            <a:ext cx="5852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500" b="0">
                <a:solidFill>
                  <a:srgbClr val="C3C6CE"/>
                </a:solidFill>
                <a:latin typeface="Calibri"/>
                <a:ea typeface="Calibri"/>
              </a:rPr>
              <a:t>Dos fotos en el mostrador: ticket y bolsa. El código no se tipea.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500" b="0">
                <a:solidFill>
                  <a:srgbClr val="C3C6CE"/>
                </a:solidFill>
                <a:latin typeface="Calibri"/>
                <a:ea typeface="Calibri"/>
              </a:rPr>
              <a:t>Cada reclamo se cruza con la foto y se prepara para refutar en un toque.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500" b="0">
                <a:solidFill>
                  <a:srgbClr val="C3C6CE"/>
                </a:solidFill>
                <a:latin typeface="Calibri"/>
                <a:ea typeface="Calibri"/>
              </a:rPr>
              <a:t>Tablero de pedidos, quejas, AWT y plata en disputa, recuperada o perdida.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500" b="0">
                <a:solidFill>
                  <a:srgbClr val="C3C6CE"/>
                </a:solidFill>
                <a:latin typeface="Calibri"/>
                <a:ea typeface="Calibri"/>
              </a:rPr>
              <a:t>Ya está en uso en La Plata. El mismo flujo se puede abrir en cualquier local.</a:t>
            </a:r>
          </a:p>
        </p:txBody>
      </p:sp>
      <p:pic>
        <p:nvPicPr>
          <p:cNvPr id="7" name="Picture 6" descr="05-pedi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502920"/>
            <a:ext cx="5212080" cy="5806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" y="6565392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99"/>
                </a:solidFill>
                <a:latin typeface="Calibri"/>
                <a:ea typeface="Calibri"/>
              </a:rPr>
              <a:t>KFC · Delivery La Plata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565392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99"/>
                </a:solidFill>
                <a:latin typeface="Calibri"/>
                <a:ea typeface="Calibri"/>
              </a:rPr>
              <a:t>delivery.star-app.com.ar  ·  v1.23  ·  En operación en el local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4002B"/>
                </a:solidFill>
                <a:latin typeface="Calibri"/>
                <a:ea typeface="Calibri"/>
              </a:rPr>
              <a:t>POR QUÉ EXISTE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7548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5F7"/>
                </a:solidFill>
                <a:latin typeface="Calibri"/>
                <a:ea typeface="Calibri"/>
              </a:rPr>
              <a:t>Menos fricción en el turno. Más plata que se puede recuperar.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0789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8F99"/>
                </a:solidFill>
                <a:latin typeface="Calibri"/>
                <a:ea typeface="Calibri"/>
              </a:rPr>
              <a:t>Hoy el agregador descuenta el reclamo si el local no tiene evidencia a tiempo. La app cierra ese hueco.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737360"/>
            <a:ext cx="2743200" cy="1097280"/>
          </a:xfrm>
          <a:prstGeom prst="roundRect">
            <a:avLst>
              <a:gd name="adj" fmla="val 6000"/>
            </a:avLst>
          </a:prstGeom>
          <a:solidFill>
            <a:srgbClr val="1A1B1E"/>
          </a:solidFill>
          <a:ln w="1270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883664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4F5F7"/>
                </a:solidFill>
                <a:latin typeface="Calibri"/>
                <a:ea typeface="Calibri"/>
              </a:rPr>
              <a:t>857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340864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9"/>
                </a:solidFill>
                <a:latin typeface="Calibri"/>
                <a:ea typeface="Calibri"/>
              </a:rPr>
              <a:t>pedidos · semana en curso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1737360"/>
            <a:ext cx="2743200" cy="1097280"/>
          </a:xfrm>
          <a:prstGeom prst="roundRect">
            <a:avLst>
              <a:gd name="adj" fmla="val 6000"/>
            </a:avLst>
          </a:prstGeom>
          <a:solidFill>
            <a:srgbClr val="1A1B1E"/>
          </a:solidFill>
          <a:ln w="1270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3864" y="1883664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0B429"/>
                </a:solidFill>
                <a:latin typeface="Calibri"/>
                <a:ea typeface="Calibri"/>
              </a:rPr>
              <a:t>$ 63.096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3864" y="2340864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9"/>
                </a:solidFill>
                <a:latin typeface="Calibri"/>
                <a:ea typeface="Calibri"/>
              </a:rPr>
              <a:t>en quejas esta semana · aún sin recuperar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737360"/>
            <a:ext cx="2743200" cy="1097280"/>
          </a:xfrm>
          <a:prstGeom prst="roundRect">
            <a:avLst>
              <a:gd name="adj" fmla="val 6000"/>
            </a:avLst>
          </a:prstGeom>
          <a:solidFill>
            <a:srgbClr val="1A1B1E"/>
          </a:solidFill>
          <a:ln w="1270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883664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4F5F7"/>
                </a:solidFill>
                <a:latin typeface="Calibri"/>
                <a:ea typeface="Calibri"/>
              </a:rPr>
              <a:t>$ 998.798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2340864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9"/>
                </a:solidFill>
                <a:latin typeface="Calibri"/>
                <a:ea typeface="Calibri"/>
              </a:rPr>
              <a:t>en reclamos del mes · historial del local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79992" y="1737360"/>
            <a:ext cx="2743200" cy="1097280"/>
          </a:xfrm>
          <a:prstGeom prst="roundRect">
            <a:avLst>
              <a:gd name="adj" fmla="val 6000"/>
            </a:avLst>
          </a:prstGeom>
          <a:solidFill>
            <a:srgbClr val="1A1B1E"/>
          </a:solidFill>
          <a:ln w="1270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44584" y="1883664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DCC7A"/>
                </a:solidFill>
                <a:latin typeface="Calibri"/>
                <a:ea typeface="Calibri"/>
              </a:rPr>
              <a:t>5,13%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4584" y="2340864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9"/>
                </a:solidFill>
                <a:latin typeface="Calibri"/>
                <a:ea typeface="Calibri"/>
              </a:rPr>
              <a:t>AWT vs objetivo 11%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" y="3017520"/>
            <a:ext cx="5577840" cy="3246120"/>
          </a:xfrm>
          <a:prstGeom prst="roundRect">
            <a:avLst>
              <a:gd name="adj" fmla="val 6000"/>
            </a:avLst>
          </a:prstGeom>
          <a:solidFill>
            <a:srgbClr val="1A1B1E"/>
          </a:solidFill>
          <a:ln w="1270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1546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4002B"/>
                </a:solidFill>
                <a:latin typeface="Calibri"/>
                <a:ea typeface="Calibri"/>
              </a:rPr>
              <a:t>OPERACIÓN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340156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4F5F7"/>
                </a:solidFill>
                <a:latin typeface="Calibri"/>
                <a:ea typeface="Calibri"/>
              </a:rPr>
              <a:t>El mostrador no se frena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379476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400" b="0">
                <a:solidFill>
                  <a:srgbClr val="C3C6CE"/>
                </a:solidFill>
                <a:latin typeface="Calibri"/>
                <a:ea typeface="Calibri"/>
              </a:rPr>
              <a:t>El chico saca dos fotos y sigue. La lectura corre atrás.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400" b="0">
                <a:solidFill>
                  <a:srgbClr val="C3C6CE"/>
                </a:solidFill>
                <a:latin typeface="Calibri"/>
                <a:ea typeface="Calibri"/>
              </a:rPr>
              <a:t>Si cierran o actualizan la app, la cola se termina igual.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400" b="0">
                <a:solidFill>
                  <a:srgbClr val="C3C6CE"/>
                </a:solidFill>
                <a:latin typeface="Calibri"/>
                <a:ea typeface="Calibri"/>
              </a:rPr>
              <a:t>Queda quién sacó la foto. No hay planillas ni códigos mal copiados.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400" b="0">
                <a:solidFill>
                  <a:srgbClr val="C3C6CE"/>
                </a:solidFill>
                <a:latin typeface="Calibri"/>
                <a:ea typeface="Calibri"/>
              </a:rPr>
              <a:t>A las 13:30 el listado de quejas se cruza solo, en todos los dispositivos.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017520"/>
            <a:ext cx="5486400" cy="3246120"/>
          </a:xfrm>
          <a:prstGeom prst="roundRect">
            <a:avLst>
              <a:gd name="adj" fmla="val 6000"/>
            </a:avLst>
          </a:prstGeom>
          <a:solidFill>
            <a:srgbClr val="1A1B1E"/>
          </a:solidFill>
          <a:ln w="1270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15468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CC7A"/>
                </a:solidFill>
                <a:latin typeface="Calibri"/>
                <a:ea typeface="Calibri"/>
              </a:rPr>
              <a:t>ECONOMÍA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40156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5F7"/>
                </a:solidFill>
                <a:latin typeface="Calibri"/>
                <a:ea typeface="Calibri"/>
              </a:rPr>
              <a:t>Cada foto es una chance de no perder el descuento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7947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400" b="0">
                <a:solidFill>
                  <a:srgbClr val="C3C6CE"/>
                </a:solidFill>
                <a:latin typeface="Calibri"/>
                <a:ea typeface="Calibri"/>
              </a:rPr>
              <a:t>Sin foto, el reclamo se paga. Con foto, se puede refutar.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400" b="0">
                <a:solidFill>
                  <a:srgbClr val="C3C6CE"/>
                </a:solidFill>
                <a:latin typeface="Calibri"/>
                <a:ea typeface="Calibri"/>
              </a:rPr>
              <a:t>Un toque descarga la evidencia, copia el código y abre el portal.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400" b="0">
                <a:solidFill>
                  <a:srgbClr val="C3C6CE"/>
                </a:solidFill>
                <a:latin typeface="Calibri"/>
                <a:ea typeface="Calibri"/>
              </a:rPr>
              <a:t>Se ve la plata en disputa, la recuperada (Ref. aceptado) y la perdida.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400" b="0">
                <a:solidFill>
                  <a:srgbClr val="C3C6CE"/>
                </a:solidFill>
                <a:latin typeface="Calibri"/>
                <a:ea typeface="Calibri"/>
              </a:rPr>
              <a:t>% de quejas y AWT contra objetivo, por agregador y por período.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6565392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99"/>
                </a:solidFill>
                <a:latin typeface="Calibri"/>
                <a:ea typeface="Calibri"/>
              </a:rPr>
              <a:t>KFC · Delivery La Plata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6565392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99"/>
                </a:solidFill>
                <a:latin typeface="Calibri"/>
                <a:ea typeface="Calibri"/>
              </a:rPr>
              <a:t>delivery.star-app.com.ar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4002B"/>
                </a:solidFill>
                <a:latin typeface="Calibri"/>
                <a:ea typeface="Calibri"/>
              </a:rPr>
              <a:t>FLUJO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7548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5F7"/>
                </a:solidFill>
                <a:latin typeface="Calibri"/>
                <a:ea typeface="Calibri"/>
              </a:rPr>
              <a:t>Cinco pasos. De la bolsa al tablero.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0789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8F99"/>
                </a:solidFill>
                <a:latin typeface="Calibri"/>
                <a:ea typeface="Calibri"/>
              </a:rPr>
              <a:t>No hay un sistema paralelo. Es el mismo recorrido todos los días, en el celular o en la PC.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737360"/>
            <a:ext cx="2176272" cy="1965960"/>
          </a:xfrm>
          <a:prstGeom prst="roundRect">
            <a:avLst>
              <a:gd name="adj" fmla="val 6000"/>
            </a:avLst>
          </a:prstGeom>
          <a:solidFill>
            <a:srgbClr val="1A1B1E"/>
          </a:solidFill>
          <a:ln w="1270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956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4002B"/>
                </a:solidFill>
                <a:latin typeface="Calibri"/>
                <a:ea typeface="Calibri"/>
              </a:rPr>
              <a:t>01 · CAPTURA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1"/>
            <a:ext cx="1956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5F7"/>
                </a:solidFill>
                <a:latin typeface="Calibri"/>
                <a:ea typeface="Calibri"/>
              </a:rPr>
              <a:t>Ticket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95728"/>
            <a:ext cx="19568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3C6CE"/>
                </a:solidFill>
                <a:latin typeface="Calibri"/>
                <a:ea typeface="Calibri"/>
              </a:rPr>
              <a:t>El recuadro pide el renglón de CODIGO. Flash si hace falta. Nombre de quien saca la foto.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24912" y="1737360"/>
            <a:ext cx="2176272" cy="1965960"/>
          </a:xfrm>
          <a:prstGeom prst="roundRect">
            <a:avLst>
              <a:gd name="adj" fmla="val 6000"/>
            </a:avLst>
          </a:prstGeom>
          <a:solidFill>
            <a:srgbClr val="1A1B1E"/>
          </a:solidFill>
          <a:ln w="1270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828800"/>
            <a:ext cx="1956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4002B"/>
                </a:solidFill>
                <a:latin typeface="Calibri"/>
                <a:ea typeface="Calibri"/>
              </a:rPr>
              <a:t>02 · CAPTURA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084831"/>
            <a:ext cx="1956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5F7"/>
                </a:solidFill>
                <a:latin typeface="Calibri"/>
                <a:ea typeface="Calibri"/>
              </a:rPr>
              <a:t>Evidencia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95728"/>
            <a:ext cx="19568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3C6CE"/>
                </a:solidFill>
                <a:latin typeface="Calibri"/>
                <a:ea typeface="Calibri"/>
              </a:rPr>
              <a:t>Bolsa, contenido y ticket a la vista. Esa foto es la defensa si llega el reclamo.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10912" y="1737360"/>
            <a:ext cx="2176272" cy="1965960"/>
          </a:xfrm>
          <a:prstGeom prst="roundRect">
            <a:avLst>
              <a:gd name="adj" fmla="val 6000"/>
            </a:avLst>
          </a:prstGeom>
          <a:solidFill>
            <a:srgbClr val="1A1B1E"/>
          </a:solidFill>
          <a:ln w="1270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828800"/>
            <a:ext cx="1956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4002B"/>
                </a:solidFill>
                <a:latin typeface="Calibri"/>
                <a:ea typeface="Calibri"/>
              </a:rPr>
              <a:t>03 · LECTURA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084831"/>
            <a:ext cx="1956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5F7"/>
                </a:solidFill>
                <a:latin typeface="Calibri"/>
                <a:ea typeface="Calibri"/>
              </a:rPr>
              <a:t>Código solo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395728"/>
            <a:ext cx="19568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3C6CE"/>
                </a:solidFill>
                <a:latin typeface="Calibri"/>
                <a:ea typeface="Calibri"/>
              </a:rPr>
              <a:t>OCR en segundo plano: PEYA, RAPPI, RAPPITURBO, MPD. Si el celular se cierra, sigue al volver.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6912" y="1737360"/>
            <a:ext cx="2176272" cy="1965960"/>
          </a:xfrm>
          <a:prstGeom prst="roundRect">
            <a:avLst>
              <a:gd name="adj" fmla="val 6000"/>
            </a:avLst>
          </a:prstGeom>
          <a:solidFill>
            <a:srgbClr val="1A1B1E"/>
          </a:solidFill>
          <a:ln w="1270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828800"/>
            <a:ext cx="1956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4002B"/>
                </a:solidFill>
                <a:latin typeface="Calibri"/>
                <a:ea typeface="Calibri"/>
              </a:rPr>
              <a:t>04 · RECLAMOS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084831"/>
            <a:ext cx="1956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5F7"/>
                </a:solidFill>
                <a:latin typeface="Calibri"/>
                <a:ea typeface="Calibri"/>
              </a:rPr>
              <a:t>Cruce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395728"/>
            <a:ext cx="19568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3C6CE"/>
                </a:solidFill>
                <a:latin typeface="Calibri"/>
                <a:ea typeface="Calibri"/>
              </a:rPr>
              <a:t>Se pega o se lee el Sheet. Cada queja se une a la foto. Queda en el historial.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82912" y="1737360"/>
            <a:ext cx="2176272" cy="1965960"/>
          </a:xfrm>
          <a:prstGeom prst="roundRect">
            <a:avLst>
              <a:gd name="adj" fmla="val 6000"/>
            </a:avLst>
          </a:prstGeom>
          <a:solidFill>
            <a:srgbClr val="1A1B1E"/>
          </a:solidFill>
          <a:ln w="1270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1828800"/>
            <a:ext cx="1956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4002B"/>
                </a:solidFill>
                <a:latin typeface="Calibri"/>
                <a:ea typeface="Calibri"/>
              </a:rPr>
              <a:t>05 · PLATA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084831"/>
            <a:ext cx="1956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5F7"/>
                </a:solidFill>
                <a:latin typeface="Calibri"/>
                <a:ea typeface="Calibri"/>
              </a:rPr>
              <a:t>Refutar y medir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395728"/>
            <a:ext cx="19568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3C6CE"/>
                </a:solidFill>
                <a:latin typeface="Calibri"/>
                <a:ea typeface="Calibri"/>
              </a:rPr>
              <a:t>Preparar para refutar. Estados Queja → Refutado → Aceptado o Rechazado.</a:t>
            </a:r>
          </a:p>
        </p:txBody>
      </p:sp>
      <p:pic>
        <p:nvPicPr>
          <p:cNvPr id="26" name="Picture 25" descr="01-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3840480"/>
            <a:ext cx="11292840" cy="2560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38912" y="6565392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99"/>
                </a:solidFill>
                <a:latin typeface="Calibri"/>
                <a:ea typeface="Calibri"/>
              </a:rPr>
              <a:t>KFC · Delivery La Plata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565392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99"/>
                </a:solidFill>
                <a:latin typeface="Calibri"/>
                <a:ea typeface="Calibri"/>
              </a:rPr>
              <a:t>delivery.star-app.com.ar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4002B"/>
                </a:solidFill>
                <a:latin typeface="Calibri"/>
                <a:ea typeface="Calibri"/>
              </a:rPr>
              <a:t>MOSTRADOR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7548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5F7"/>
                </a:solidFill>
                <a:latin typeface="Calibri"/>
                <a:ea typeface="Calibri"/>
              </a:rPr>
              <a:t>Pensada para el celular, en el momento de armar el pedido.</a:t>
            </a:r>
          </a:p>
        </p:txBody>
      </p:sp>
      <p:pic>
        <p:nvPicPr>
          <p:cNvPr id="5" name="Picture 4" descr="02-captura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2331720" cy="5029200"/>
          </a:xfrm>
          <a:prstGeom prst="rect">
            <a:avLst/>
          </a:prstGeom>
        </p:spPr>
      </p:pic>
      <p:pic>
        <p:nvPicPr>
          <p:cNvPr id="6" name="Picture 5" descr="10-camara-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234440"/>
            <a:ext cx="23317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23560" y="1371600"/>
            <a:ext cx="6126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600" b="1">
                <a:solidFill>
                  <a:srgbClr val="F4F5F7"/>
                </a:solidFill>
                <a:latin typeface="Calibri"/>
                <a:ea typeface="Calibri"/>
              </a:rPr>
              <a:t>Quién saca la foto</a:t>
            </a:r>
            <a:r>
              <a:rPr sz="1600" b="0">
                <a:solidFill>
                  <a:srgbClr val="C3C6CE"/>
                </a:solidFill>
                <a:latin typeface="Calibri"/>
                <a:ea typeface="Calibri"/>
              </a:rPr>
              <a:t> primero. Queda registrado en cada pedido.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600" b="1">
                <a:solidFill>
                  <a:srgbClr val="F4F5F7"/>
                </a:solidFill>
                <a:latin typeface="Calibri"/>
                <a:ea typeface="Calibri"/>
              </a:rPr>
              <a:t>Sacar foto</a:t>
            </a:r>
            <a:r>
              <a:rPr sz="1600" b="0">
                <a:solidFill>
                  <a:srgbClr val="C3C6CE"/>
                </a:solidFill>
                <a:latin typeface="Calibri"/>
                <a:ea typeface="Calibri"/>
              </a:rPr>
              <a:t> grande y centrado. Cámara en dos pasos: ticket y evidencia, sin cerrarse entre pedidos.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600" b="1">
                <a:solidFill>
                  <a:srgbClr val="F4F5F7"/>
                </a:solidFill>
                <a:latin typeface="Calibri"/>
                <a:ea typeface="Calibri"/>
              </a:rPr>
              <a:t>Flash</a:t>
            </a:r>
            <a:r>
              <a:rPr sz="1600" b="0">
                <a:solidFill>
                  <a:srgbClr val="C3C6CE"/>
                </a:solidFill>
                <a:latin typeface="Calibri"/>
                <a:ea typeface="Calibri"/>
              </a:rPr>
              <a:t> abajo, fácil de tocar. Guía para encuadrar el código.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600" b="1">
                <a:solidFill>
                  <a:srgbClr val="F4F5F7"/>
                </a:solidFill>
                <a:latin typeface="Calibri"/>
                <a:ea typeface="Calibri"/>
              </a:rPr>
              <a:t>Cola de subida: </a:t>
            </a:r>
            <a:r>
              <a:rPr sz="1600" b="0">
                <a:solidFill>
                  <a:srgbClr val="C3C6CE"/>
                </a:solidFill>
                <a:latin typeface="Calibri"/>
                <a:ea typeface="Calibri"/>
              </a:rPr>
              <a:t>pueden seguir armando. Si cierran la app, los pedidos en cola se terminan de leer.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600" b="0">
                <a:solidFill>
                  <a:srgbClr val="C3C6CE"/>
                </a:solidFill>
                <a:latin typeface="Calibri"/>
                <a:ea typeface="Calibri"/>
              </a:rPr>
              <a:t>También se puede elegir de la galería o cargar un archivo (remito, Excel) desde la PC.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565392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99"/>
                </a:solidFill>
                <a:latin typeface="Calibri"/>
                <a:ea typeface="Calibri"/>
              </a:rPr>
              <a:t>KFC · Delivery La Plata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565392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99"/>
                </a:solidFill>
                <a:latin typeface="Calibri"/>
                <a:ea typeface="Calibri"/>
              </a:rPr>
              <a:t>delivery.star-app.com.ar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4002B"/>
                </a:solidFill>
                <a:latin typeface="Calibri"/>
                <a:ea typeface="Calibri"/>
              </a:rPr>
              <a:t>LECTURA AUTOMÁTICA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7548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5F7"/>
                </a:solidFill>
                <a:latin typeface="Calibri"/>
                <a:ea typeface="Calibri"/>
              </a:rPr>
              <a:t>El código se lee del ticket. Nadie lo copia a mano.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0789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8F99"/>
                </a:solidFill>
                <a:latin typeface="Calibri"/>
                <a:ea typeface="Calibri"/>
              </a:rPr>
              <a:t>Menos error, menos “código no encontrado”, y el archivo ya nace con el número de pedido.</a:t>
            </a:r>
          </a:p>
        </p:txBody>
      </p:sp>
      <p:pic>
        <p:nvPicPr>
          <p:cNvPr id="6" name="Picture 5" descr="ejemplo-pey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737360"/>
            <a:ext cx="3657600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" y="52120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5F7"/>
                </a:solidFill>
                <a:latin typeface="Calibri"/>
                <a:ea typeface="Calibri"/>
              </a:rPr>
              <a:t>PedidosYa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55046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9"/>
                </a:solidFill>
                <a:latin typeface="Calibri"/>
                <a:ea typeface="Calibri"/>
              </a:rPr>
              <a:t>CODIGO: PEYA-2286878556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57607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DCC7A"/>
                </a:solidFill>
                <a:latin typeface="Calibri"/>
                <a:ea typeface="Calibri"/>
              </a:rPr>
              <a:t>Pedido #PEYA-2286878556</a:t>
            </a:r>
          </a:p>
        </p:txBody>
      </p:sp>
      <p:pic>
        <p:nvPicPr>
          <p:cNvPr id="10" name="Picture 9" descr="ejemplo-rapp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737360"/>
            <a:ext cx="3657600" cy="3383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79392" y="52120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5F7"/>
                </a:solidFill>
                <a:latin typeface="Calibri"/>
                <a:ea typeface="Calibri"/>
              </a:rPr>
              <a:t>Rappi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55046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9"/>
                </a:solidFill>
                <a:latin typeface="Calibri"/>
                <a:ea typeface="Calibri"/>
              </a:rPr>
              <a:t>CODIGO: RAPPI-480403041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9392" y="57607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DCC7A"/>
                </a:solidFill>
                <a:latin typeface="Calibri"/>
                <a:ea typeface="Calibri"/>
              </a:rPr>
              <a:t>Pedido #RAPPI-480403041</a:t>
            </a:r>
          </a:p>
        </p:txBody>
      </p:sp>
      <p:pic>
        <p:nvPicPr>
          <p:cNvPr id="14" name="Picture 13" descr="ejemplo-bols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1737360"/>
            <a:ext cx="3657600" cy="33832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19872" y="52120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5F7"/>
                </a:solidFill>
                <a:latin typeface="Calibri"/>
                <a:ea typeface="Calibri"/>
              </a:rPr>
              <a:t>Evidencia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55046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9"/>
                </a:solidFill>
                <a:latin typeface="Calibri"/>
                <a:ea typeface="Calibri"/>
              </a:rPr>
              <a:t>Bolsa, producto y ticket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57607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DCC7A"/>
                </a:solidFill>
                <a:latin typeface="Calibri"/>
                <a:ea typeface="Calibri"/>
              </a:rPr>
              <a:t>Si el ticket no se lee, la foto se guarda igual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6565392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99"/>
                </a:solidFill>
                <a:latin typeface="Calibri"/>
                <a:ea typeface="Calibri"/>
              </a:rPr>
              <a:t>KFC · Delivery La Plata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565392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99"/>
                </a:solidFill>
                <a:latin typeface="Calibri"/>
                <a:ea typeface="Calibri"/>
              </a:rPr>
              <a:t>delivery.star-app.com.ar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4002B"/>
                </a:solidFill>
                <a:latin typeface="Calibri"/>
                <a:ea typeface="Calibri"/>
              </a:rPr>
              <a:t>GALERÍA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7548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5F7"/>
                </a:solidFill>
                <a:latin typeface="Calibri"/>
                <a:ea typeface="Calibri"/>
              </a:rPr>
              <a:t>Cada pedido queda identificado y a un toque.</a:t>
            </a:r>
          </a:p>
        </p:txBody>
      </p:sp>
      <p:pic>
        <p:nvPicPr>
          <p:cNvPr id="5" name="Picture 4" descr="05-pedi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234440"/>
            <a:ext cx="5623560" cy="4983480"/>
          </a:xfrm>
          <a:prstGeom prst="rect">
            <a:avLst/>
          </a:prstGeom>
        </p:spPr>
      </p:pic>
      <p:pic>
        <p:nvPicPr>
          <p:cNvPr id="6" name="Picture 5" descr="03-light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486400" cy="4983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" y="6291072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9"/>
                </a:solidFill>
                <a:latin typeface="Calibri"/>
                <a:ea typeface="Calibri"/>
              </a:rPr>
              <a:t>PedidosYa, Rappi, Rappi Turbo y Mercado Pago  ·  En vivo  ·  ver, editar, descargar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29107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9"/>
                </a:solidFill>
                <a:latin typeface="Calibri"/>
                <a:ea typeface="Calibri"/>
              </a:rPr>
              <a:t>Desde la galería se puede marcar un pedido como reclamo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565392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99"/>
                </a:solidFill>
                <a:latin typeface="Calibri"/>
                <a:ea typeface="Calibri"/>
              </a:rPr>
              <a:t>KFC · Delivery La Plata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565392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99"/>
                </a:solidFill>
                <a:latin typeface="Calibri"/>
                <a:ea typeface="Calibri"/>
              </a:rPr>
              <a:t>delivery.star-app.com.ar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4002B"/>
                </a:solidFill>
                <a:latin typeface="Calibri"/>
                <a:ea typeface="Calibri"/>
              </a:rPr>
              <a:t>RECLAMOS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7548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5F7"/>
                </a:solidFill>
                <a:latin typeface="Calibri"/>
                <a:ea typeface="Calibri"/>
              </a:rPr>
              <a:t>Del listado del agregador a “Preparar para refutar”.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344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500" b="1">
                <a:solidFill>
                  <a:srgbClr val="F4F5F7"/>
                </a:solidFill>
                <a:latin typeface="Calibri"/>
                <a:ea typeface="Calibri"/>
              </a:rPr>
              <a:t>Importar</a:t>
            </a:r>
            <a:r>
              <a:rPr sz="1500" b="0">
                <a:solidFill>
                  <a:srgbClr val="C3C6CE"/>
                </a:solidFill>
                <a:latin typeface="Calibri"/>
                <a:ea typeface="Calibri"/>
              </a:rPr>
              <a:t> el Sheet o pegar celdas (código, hora, monto, combo, motivo).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500" b="1">
                <a:solidFill>
                  <a:srgbClr val="F4F5F7"/>
                </a:solidFill>
                <a:latin typeface="Calibri"/>
                <a:ea typeface="Calibri"/>
              </a:rPr>
              <a:t>Cruzar</a:t>
            </a:r>
            <a:r>
              <a:rPr sz="1500" b="0">
                <a:solidFill>
                  <a:srgbClr val="C3C6CE"/>
                </a:solidFill>
                <a:latin typeface="Calibri"/>
                <a:ea typeface="Calibri"/>
              </a:rPr>
              <a:t> con las fotos. A las 13:30 se hace solo, una vez, para todos los celulares del local.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500" b="1">
                <a:solidFill>
                  <a:srgbClr val="F4F5F7"/>
                </a:solidFill>
                <a:latin typeface="Calibri"/>
                <a:ea typeface="Calibri"/>
              </a:rPr>
              <a:t>Historial: </a:t>
            </a:r>
            <a:r>
              <a:rPr sz="1500" b="0">
                <a:solidFill>
                  <a:srgbClr val="C3C6CE"/>
                </a:solidFill>
                <a:latin typeface="Calibri"/>
                <a:ea typeface="Calibri"/>
              </a:rPr>
              <a:t>Queja, Refutado, Ref. aceptado o Ref. rechazado. Filtro por día, agregador y estado.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500" b="1">
                <a:solidFill>
                  <a:srgbClr val="F4F5F7"/>
                </a:solidFill>
                <a:latin typeface="Calibri"/>
                <a:ea typeface="Calibri"/>
              </a:rPr>
              <a:t>Preparar para refutar: </a:t>
            </a:r>
            <a:r>
              <a:rPr sz="1500" b="0">
                <a:solidFill>
                  <a:srgbClr val="C3C6CE"/>
                </a:solidFill>
                <a:latin typeface="Calibri"/>
                <a:ea typeface="Calibri"/>
              </a:rPr>
              <a:t>descarga la foto, copia el código y abre PedidosYa Portal o Rappi Partners.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500" b="0">
                <a:solidFill>
                  <a:srgbClr val="C3C6CE"/>
                </a:solidFill>
                <a:latin typeface="Calibri"/>
                <a:ea typeface="Calibri"/>
              </a:rPr>
              <a:t>Si el pedido se marcó como reclamo desde la galería, ya entra al historial aunque todavía falten los datos del Sheet.</a:t>
            </a:r>
          </a:p>
        </p:txBody>
      </p:sp>
      <p:pic>
        <p:nvPicPr>
          <p:cNvPr id="6" name="Picture 5" descr="07-histo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88720"/>
            <a:ext cx="589788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" y="5989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5F7"/>
                </a:solidFill>
                <a:latin typeface="Calibri"/>
                <a:ea typeface="Calibri"/>
              </a:rPr>
              <a:t>Mes en curso  ·  78 reclamos  ·  $ 998.798 en el historial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5989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9"/>
                </a:solidFill>
                <a:latin typeface="Calibri"/>
                <a:ea typeface="Calibri"/>
              </a:rPr>
              <a:t>Sin foto = plata que hoy no se puede defender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565392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99"/>
                </a:solidFill>
                <a:latin typeface="Calibri"/>
                <a:ea typeface="Calibri"/>
              </a:rPr>
              <a:t>KFC · Delivery La Plata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565392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99"/>
                </a:solidFill>
                <a:latin typeface="Calibri"/>
                <a:ea typeface="Calibri"/>
              </a:rPr>
              <a:t>delivery.star-app.com.ar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4002B"/>
                </a:solidFill>
                <a:latin typeface="Calibri"/>
                <a:ea typeface="Calibri"/>
              </a:rPr>
              <a:t>GERENCIA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7548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5F7"/>
                </a:solidFill>
                <a:latin typeface="Calibri"/>
                <a:ea typeface="Calibri"/>
              </a:rPr>
              <a:t>Métricas: operación y montos, por agregador.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234440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1A1B1E"/>
          </a:solidFill>
          <a:ln w="1270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380744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4F5F7"/>
                </a:solidFill>
                <a:latin typeface="Calibri"/>
                <a:ea typeface="Calibri"/>
              </a:rPr>
              <a:t>2,45%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837944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9"/>
                </a:solidFill>
                <a:latin typeface="Calibri"/>
                <a:ea typeface="Calibri"/>
              </a:rPr>
              <a:t>quejas · objetivo 2,40%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9272" y="1234440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1A1B1E"/>
          </a:solidFill>
          <a:ln w="1270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83864" y="1380744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DCC7A"/>
                </a:solidFill>
                <a:latin typeface="Calibri"/>
                <a:ea typeface="Calibri"/>
              </a:rPr>
              <a:t>5,13%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3864" y="1837944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9"/>
                </a:solidFill>
                <a:latin typeface="Calibri"/>
                <a:ea typeface="Calibri"/>
              </a:rPr>
              <a:t>AWT · objetivo 11%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234440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1A1B1E"/>
          </a:solidFill>
          <a:ln w="1270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380744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4F5F7"/>
                </a:solidFill>
                <a:latin typeface="Calibri"/>
                <a:ea typeface="Calibri"/>
              </a:rPr>
              <a:t>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1837944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9"/>
                </a:solidFill>
                <a:latin typeface="Calibri"/>
                <a:ea typeface="Calibri"/>
              </a:rPr>
              <a:t>quejas en la semana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79992" y="1234440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1A1B1E"/>
          </a:solidFill>
          <a:ln w="1270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44584" y="1380744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4F5F7"/>
                </a:solidFill>
                <a:latin typeface="Calibri"/>
                <a:ea typeface="Calibri"/>
              </a:rPr>
              <a:t>$ 0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44584" y="1837944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9"/>
                </a:solidFill>
                <a:latin typeface="Calibri"/>
                <a:ea typeface="Calibri"/>
              </a:rPr>
              <a:t>recuperado · oportunidad de refutar</a:t>
            </a:r>
          </a:p>
        </p:txBody>
      </p:sp>
      <p:pic>
        <p:nvPicPr>
          <p:cNvPr id="17" name="Picture 16" descr="01-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468880"/>
            <a:ext cx="11292840" cy="3794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38912" y="6565392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99"/>
                </a:solidFill>
                <a:latin typeface="Calibri"/>
                <a:ea typeface="Calibri"/>
              </a:rPr>
              <a:t>KFC · Delivery La Plata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565392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99"/>
                </a:solidFill>
                <a:latin typeface="Calibri"/>
                <a:ea typeface="Calibri"/>
              </a:rPr>
              <a:t>Hoy, Ayer, 7 días, Semana, Mes o rango  ·  corte por agregador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4002B"/>
                </a:solidFill>
                <a:latin typeface="Calibri"/>
                <a:ea typeface="Calibri"/>
              </a:rPr>
              <a:t>RED DE LOCALES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7548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5F7"/>
                </a:solidFill>
                <a:latin typeface="Calibri"/>
                <a:ea typeface="Calibri"/>
              </a:rPr>
              <a:t>De La Plata a todos los locales, sin un sistema nuevo.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234440"/>
            <a:ext cx="5577840" cy="2606040"/>
          </a:xfrm>
          <a:prstGeom prst="roundRect">
            <a:avLst>
              <a:gd name="adj" fmla="val 6000"/>
            </a:avLst>
          </a:prstGeom>
          <a:solidFill>
            <a:srgbClr val="1A1B1E"/>
          </a:solidFill>
          <a:ln w="1270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35331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4002B"/>
                </a:solidFill>
                <a:latin typeface="Calibri"/>
                <a:ea typeface="Calibri"/>
              </a:rPr>
              <a:t>QUÉ HAY QUE HACER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9105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5F7"/>
                </a:solidFill>
                <a:latin typeface="Calibri"/>
                <a:ea typeface="Calibri"/>
              </a:rPr>
              <a:t>El mismo link, el mismo flujo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92024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200" b="0">
                <a:solidFill>
                  <a:srgbClr val="C3C6CE"/>
                </a:solidFill>
                <a:latin typeface="Calibri"/>
                <a:ea typeface="Calibri"/>
              </a:rPr>
              <a:t>Se abre delivery.star-app.com.ar en el celular del local y se instala en el inicio. No hay usuarios ni contraseñas.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200" b="0">
                <a:solidFill>
                  <a:srgbClr val="C3C6CE"/>
                </a:solidFill>
                <a:latin typeface="Calibri"/>
                <a:ea typeface="Calibri"/>
              </a:rPr>
              <a:t>El equipo saca las mismas dos fotos. No hay capacitación extra ni otro software.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200" b="0">
                <a:solidFill>
                  <a:srgbClr val="C3C6CE"/>
                </a:solidFill>
                <a:latin typeface="Calibri"/>
                <a:ea typeface="Calibri"/>
              </a:rPr>
              <a:t>El Sheet de reclamos ya trae la columna de local: el cruce y el historial siguen el mismo método.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200" b="0">
                <a:solidFill>
                  <a:srgbClr val="C3C6CE"/>
                </a:solidFill>
                <a:latin typeface="Calibri"/>
                <a:ea typeface="Calibri"/>
              </a:rPr>
              <a:t>Un local nuevo puede empezar el mismo día: ícono en el teléfono y cámara.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486400" cy="2606040"/>
          </a:xfrm>
          <a:prstGeom prst="roundRect">
            <a:avLst>
              <a:gd name="adj" fmla="val 6000"/>
            </a:avLst>
          </a:prstGeom>
          <a:solidFill>
            <a:srgbClr val="1A1B1E"/>
          </a:solidFill>
          <a:ln w="12700">
            <a:solidFill>
              <a:srgbClr val="2C2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5331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CC7A"/>
                </a:solidFill>
                <a:latin typeface="Calibri"/>
                <a:ea typeface="Calibri"/>
              </a:rPr>
              <a:t>QUÉ GANA LA EMPRESA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9105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5F7"/>
                </a:solidFill>
                <a:latin typeface="Calibri"/>
                <a:ea typeface="Calibri"/>
              </a:rPr>
              <a:t>Un estándar, no una isla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20240"/>
            <a:ext cx="5120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200" b="0">
                <a:solidFill>
                  <a:srgbClr val="C3C6CE"/>
                </a:solidFill>
                <a:latin typeface="Calibri"/>
                <a:ea typeface="Calibri"/>
              </a:rPr>
              <a:t>Misma evidencia, mismos estados, mismas métricas en cada punto de venta.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200" b="0">
                <a:solidFill>
                  <a:srgbClr val="C3C6CE"/>
                </a:solidFill>
                <a:latin typeface="Calibri"/>
                <a:ea typeface="Calibri"/>
              </a:rPr>
              <a:t>La plata en disputa se ve. La recuperada también. Se puede comparar local contra local.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200" b="0">
                <a:solidFill>
                  <a:srgbClr val="C3C6CE"/>
                </a:solidFill>
                <a:latin typeface="Calibri"/>
                <a:ea typeface="Calibri"/>
              </a:rPr>
              <a:t>Menos pedidos “sin foto” en la red = menos descuentos que se dan por no poder refutar.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200" b="0">
                <a:solidFill>
                  <a:srgbClr val="C3C6CE"/>
                </a:solidFill>
                <a:latin typeface="Calibri"/>
                <a:ea typeface="Calibri"/>
              </a:rPr>
              <a:t>No se paga una app distinta por sucursal. Se replica lo que ya funciona en La Plata.</a:t>
            </a:r>
          </a:p>
        </p:txBody>
      </p:sp>
      <p:pic>
        <p:nvPicPr>
          <p:cNvPr id="13" name="Picture 12" descr="11-galeria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3977639"/>
            <a:ext cx="2148840" cy="2331720"/>
          </a:xfrm>
          <a:prstGeom prst="rect">
            <a:avLst/>
          </a:prstGeom>
        </p:spPr>
      </p:pic>
      <p:pic>
        <p:nvPicPr>
          <p:cNvPr id="14" name="Picture 13" descr="12-historial-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977639"/>
            <a:ext cx="2148840" cy="2331720"/>
          </a:xfrm>
          <a:prstGeom prst="rect">
            <a:avLst/>
          </a:prstGeom>
        </p:spPr>
      </p:pic>
      <p:pic>
        <p:nvPicPr>
          <p:cNvPr id="15" name="Picture 14" descr="08-metricas-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3977639"/>
            <a:ext cx="2148840" cy="2331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8912" y="6565392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99"/>
                </a:solidFill>
                <a:latin typeface="Calibri"/>
                <a:ea typeface="Calibri"/>
              </a:rPr>
              <a:t>KFC · Delivery La Plata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6565392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99"/>
                </a:solidFill>
                <a:latin typeface="Calibri"/>
                <a:ea typeface="Calibri"/>
              </a:rPr>
              <a:t>delivery.star-app.com.ar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4002B"/>
                </a:solidFill>
                <a:latin typeface="Calibri"/>
                <a:ea typeface="Calibri"/>
              </a:rPr>
              <a:t>SIGUIENTE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7548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5F7"/>
                </a:solidFill>
                <a:latin typeface="Calibri"/>
                <a:ea typeface="Calibri"/>
              </a:rPr>
              <a:t>Ya está en la calle. El siguiente local es instalarla.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34440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3C6CE"/>
                </a:solidFill>
                <a:latin typeface="Calibri"/>
                <a:ea typeface="Calibri"/>
              </a:rPr>
              <a:t>La Plata ya registra pedidos, lee códigos, cruza reclamos y mide quejas y AWT. Expandirlo es copiar ese hábito, no armar otro proyecto.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2286000"/>
            <a:ext cx="5669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500" b="0">
                <a:solidFill>
                  <a:srgbClr val="C3C6CE"/>
                </a:solidFill>
                <a:latin typeface="Calibri"/>
                <a:ea typeface="Calibri"/>
              </a:rPr>
              <a:t>App web: celular y escritorio 16:9. Se instala como aplicación.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500" b="0">
                <a:solidFill>
                  <a:srgbClr val="C3C6CE"/>
                </a:solidFill>
                <a:latin typeface="Calibri"/>
                <a:ea typeface="Calibri"/>
              </a:rPr>
              <a:t>Cuatro agregadores. Cámara, galería, reclamos, historial, métricas y archivos.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500" b="0">
                <a:solidFill>
                  <a:srgbClr val="C3C6CE"/>
                </a:solidFill>
                <a:latin typeface="Calibri"/>
                <a:ea typeface="Calibri"/>
              </a:rPr>
              <a:t>Pedido con foto = chance de recuperar el descuento. Pedido sin foto = se paga.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E4002B"/>
                </a:solidFill>
                <a:latin typeface="Calibri"/>
                <a:ea typeface="Calibri"/>
              </a:rPr>
              <a:t>•  </a:t>
            </a:r>
            <a:r>
              <a:rPr sz="1500" b="0">
                <a:solidFill>
                  <a:srgbClr val="C3C6CE"/>
                </a:solidFill>
                <a:latin typeface="Calibri"/>
                <a:ea typeface="Calibri"/>
              </a:rPr>
              <a:t>Un link para todos los locales.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4709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4F5F7"/>
                </a:solidFill>
                <a:latin typeface="Calibri"/>
                <a:ea typeface="Calibri"/>
              </a:rPr>
              <a:t>delivery.star-app.com.ar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5166360"/>
            <a:ext cx="2468880" cy="438912"/>
          </a:xfrm>
          <a:prstGeom prst="roundRect">
            <a:avLst>
              <a:gd name="adj" fmla="val 15000"/>
            </a:avLst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Abrir la aplicación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5715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9"/>
                </a:solidFill>
                <a:latin typeface="Calibri"/>
                <a:ea typeface="Calibri"/>
              </a:rPr>
              <a:t>Archivo editable: Delivery-La-Plata.pptx</a:t>
            </a:r>
          </a:p>
        </p:txBody>
      </p:sp>
      <p:pic>
        <p:nvPicPr>
          <p:cNvPr id="10" name="Picture 9" descr="03-light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188720"/>
            <a:ext cx="5486400" cy="5029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8912" y="6565392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99"/>
                </a:solidFill>
                <a:latin typeface="Calibri"/>
                <a:ea typeface="Calibri"/>
              </a:rPr>
              <a:t>KFC · Delivery La Plata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565392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F99"/>
                </a:solidFill>
                <a:latin typeface="Calibri"/>
                <a:ea typeface="Calibri"/>
              </a:rPr>
              <a:t>delivery.star-app.com.ar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